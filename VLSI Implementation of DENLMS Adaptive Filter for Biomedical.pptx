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0" r:id="rId26"/>
    <p:sldId id="27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8178" y="408714"/>
            <a:ext cx="9984509" cy="2262781"/>
          </a:xfrm>
        </p:spPr>
        <p:txBody>
          <a:bodyPr>
            <a:normAutofit fontScale="90000"/>
          </a:bodyPr>
          <a:lstStyle/>
          <a:p>
            <a:pPr algn="just"/>
            <a:r>
              <a:rPr lang="en-US" dirty="0"/>
              <a:t>VLSI Implementation of DENLMS Adaptive Filter for Biomedical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24413" y="2773093"/>
            <a:ext cx="7275222" cy="459622"/>
          </a:xfrm>
        </p:spPr>
        <p:txBody>
          <a:bodyPr/>
          <a:lstStyle/>
          <a:p>
            <a:r>
              <a:rPr lang="en-US" dirty="0"/>
              <a:t>Low-Power &amp; High-Speed ECG Noise Removal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20873" y="3272089"/>
            <a:ext cx="53201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Authors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C. </a:t>
            </a:r>
            <a:r>
              <a:rPr lang="en-US" dirty="0" err="1"/>
              <a:t>Venkatesan</a:t>
            </a:r>
            <a:r>
              <a:rPr lang="en-US" dirty="0"/>
              <a:t>, T. </a:t>
            </a:r>
            <a:r>
              <a:rPr lang="en-US" dirty="0" err="1"/>
              <a:t>Thamaraimanalan</a:t>
            </a:r>
            <a:r>
              <a:rPr lang="en-US" dirty="0"/>
              <a:t>, R. </a:t>
            </a:r>
            <a:r>
              <a:rPr lang="en-US" dirty="0" err="1"/>
              <a:t>Latha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225964" y="4572000"/>
            <a:ext cx="51538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Mohammad </a:t>
            </a:r>
            <a:r>
              <a:rPr lang="en-US" dirty="0" smtClean="0"/>
              <a:t>Ali </a:t>
            </a:r>
            <a:r>
              <a:rPr lang="en-US" dirty="0" err="1" smtClean="0"/>
              <a:t>Sakib</a:t>
            </a:r>
            <a:endParaRPr lang="en-US" dirty="0" smtClean="0"/>
          </a:p>
          <a:p>
            <a:r>
              <a:rPr lang="en-US" dirty="0" smtClean="0"/>
              <a:t>ID No : 220137</a:t>
            </a:r>
          </a:p>
          <a:p>
            <a:r>
              <a:rPr lang="en-US" dirty="0" smtClean="0"/>
              <a:t>Reg.:1011979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Dept. of CSE </a:t>
            </a:r>
            <a:br>
              <a:rPr lang="en-US" dirty="0"/>
            </a:br>
            <a:r>
              <a:rPr lang="en-US" dirty="0" smtClean="0"/>
              <a:t>Pabna University of Science and Technology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823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9251" y="79167"/>
            <a:ext cx="2958131" cy="862942"/>
          </a:xfrm>
        </p:spPr>
        <p:txBody>
          <a:bodyPr/>
          <a:lstStyle/>
          <a:p>
            <a:r>
              <a:rPr lang="en-US" b="1" i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 :</a:t>
            </a:r>
            <a:endParaRPr lang="en-US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29161" y="1006766"/>
            <a:ext cx="430414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 smtClean="0">
                <a:latin typeface="Arial" panose="020B0604020202020204" pitchFamily="34" charset="0"/>
              </a:rPr>
              <a:t>Core Problem and Context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 smtClean="0">
                <a:latin typeface="Arial" panose="020B0604020202020204" pitchFamily="34" charset="0"/>
              </a:rPr>
              <a:t>Context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 smtClean="0">
                <a:latin typeface="Arial" panose="020B0604020202020204" pitchFamily="34" charset="0"/>
              </a:rPr>
              <a:t>Challenge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 smtClean="0">
                <a:latin typeface="Arial" panose="020B0604020202020204" pitchFamily="34" charset="0"/>
              </a:rPr>
              <a:t>Solution Needed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Problem Motivation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Non-stationary nature of ECG noise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Limitations of traditional FIR/IIR filters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Adaptive Filter Concept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What is an adaptive filter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Why adaptive filtering is required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Limitations of Existing LMS-Based Methods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LMS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ENLMS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DNLMS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Proposed DENLMS Adaptive Filter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Key idea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Delayed error concept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Advantages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148943" y="1163782"/>
            <a:ext cx="49229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Algorithm &amp; VLSI Architecture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DENLMS weight update equation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Pipelined hardware architecture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Implementation &amp; Design Flow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HDL design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Simulation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Synthesis &amp; layout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Results &amp; Performance Analysis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Error comparison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Power, area, and speed comparison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Key Findings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Why DENLMS is better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Suitability for wearable ECG devices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smtClean="0">
                <a:latin typeface="Arial" panose="020B0604020202020204" pitchFamily="34" charset="0"/>
              </a:rPr>
              <a:t>Conclusion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smtClean="0">
                <a:latin typeface="Arial" panose="020B0604020202020204" pitchFamily="34" charset="0"/>
              </a:rPr>
              <a:t>Question And Answer Part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15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1" y="1818604"/>
            <a:ext cx="8915399" cy="1468800"/>
          </a:xfrm>
        </p:spPr>
        <p:txBody>
          <a:bodyPr/>
          <a:lstStyle/>
          <a:p>
            <a:r>
              <a:rPr lang="en-US" b="1" dirty="0"/>
              <a:t>The Core Problem &amp; Context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970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Context</a:t>
            </a:r>
            <a:endParaRPr lang="en-US" sz="32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5668" y="934244"/>
            <a:ext cx="5181600" cy="360218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16728" y="1598613"/>
            <a:ext cx="4488872" cy="3001096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In healthcare, clean Electrocardiogram (ECG) signals are vital for accurate diagnosis. However, these signals are often corrupted by noise during recording and transmission.</a:t>
            </a:r>
          </a:p>
        </p:txBody>
      </p:sp>
    </p:spTree>
    <p:extLst>
      <p:ext uri="{BB962C8B-B14F-4D97-AF65-F5344CB8AC3E}">
        <p14:creationId xmlns:p14="http://schemas.microsoft.com/office/powerpoint/2010/main" val="4139814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0558" y="1434379"/>
            <a:ext cx="3505199" cy="97631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Challenge :</a:t>
            </a:r>
            <a:endParaRPr lang="en-US" sz="3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1745" y="2743922"/>
            <a:ext cx="4586576" cy="1901969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Traditional fixed filters (like FIR/IIR) struggle because ECG noise is </a:t>
            </a:r>
            <a:r>
              <a:rPr lang="en-US" sz="2400" u="sng" dirty="0">
                <a:solidFill>
                  <a:srgbClr val="FF0000"/>
                </a:solidFill>
              </a:rPr>
              <a:t>non-stationary</a:t>
            </a:r>
            <a:r>
              <a:rPr lang="en-US" sz="2400" dirty="0"/>
              <a:t>—its statistics change over time.</a:t>
            </a:r>
          </a:p>
        </p:txBody>
      </p:sp>
      <p:sp>
        <p:nvSpPr>
          <p:cNvPr id="5" name="Freeform 4"/>
          <p:cNvSpPr/>
          <p:nvPr/>
        </p:nvSpPr>
        <p:spPr>
          <a:xfrm>
            <a:off x="9254835" y="3805380"/>
            <a:ext cx="1243204" cy="1450109"/>
          </a:xfrm>
          <a:custGeom>
            <a:avLst/>
            <a:gdLst>
              <a:gd name="connsiteX0" fmla="*/ 0 w 1243204"/>
              <a:gd name="connsiteY0" fmla="*/ 0 h 1450109"/>
              <a:gd name="connsiteX1" fmla="*/ 1219200 w 1243204"/>
              <a:gd name="connsiteY1" fmla="*/ 443345 h 1450109"/>
              <a:gd name="connsiteX2" fmla="*/ 840509 w 1243204"/>
              <a:gd name="connsiteY2" fmla="*/ 1394691 h 1450109"/>
              <a:gd name="connsiteX3" fmla="*/ 840509 w 1243204"/>
              <a:gd name="connsiteY3" fmla="*/ 1394691 h 1450109"/>
              <a:gd name="connsiteX4" fmla="*/ 831272 w 1243204"/>
              <a:gd name="connsiteY4" fmla="*/ 1450109 h 145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3204" h="1450109">
                <a:moveTo>
                  <a:pt x="0" y="0"/>
                </a:moveTo>
                <a:cubicBezTo>
                  <a:pt x="539557" y="105448"/>
                  <a:pt x="1079115" y="210897"/>
                  <a:pt x="1219200" y="443345"/>
                </a:cubicBezTo>
                <a:cubicBezTo>
                  <a:pt x="1359285" y="675794"/>
                  <a:pt x="840509" y="1394691"/>
                  <a:pt x="840509" y="1394691"/>
                </a:cubicBezTo>
                <a:lnTo>
                  <a:pt x="840509" y="1394691"/>
                </a:lnTo>
                <a:lnTo>
                  <a:pt x="831272" y="1450109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715033" y="5255489"/>
            <a:ext cx="43661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“non-stationary” means that the statistical properties of the ECG signal or its noise are not constant over time.</a:t>
            </a:r>
          </a:p>
        </p:txBody>
      </p:sp>
    </p:spTree>
    <p:extLst>
      <p:ext uri="{BB962C8B-B14F-4D97-AF65-F5344CB8AC3E}">
        <p14:creationId xmlns:p14="http://schemas.microsoft.com/office/powerpoint/2010/main" val="93428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4703" y="1489797"/>
            <a:ext cx="3733800" cy="976312"/>
          </a:xfrm>
        </p:spPr>
        <p:txBody>
          <a:bodyPr>
            <a:noAutofit/>
          </a:bodyPr>
          <a:lstStyle/>
          <a:p>
            <a:r>
              <a:rPr lang="en-US" sz="3200" b="1" dirty="0"/>
              <a:t>Solution Needed:</a:t>
            </a:r>
            <a:endParaRPr lang="en-US" sz="3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51757" y="2771631"/>
            <a:ext cx="6785697" cy="1098405"/>
          </a:xfrm>
        </p:spPr>
        <p:txBody>
          <a:bodyPr>
            <a:normAutofit/>
          </a:bodyPr>
          <a:lstStyle/>
          <a:p>
            <a:r>
              <a:rPr lang="en-US" sz="2400" dirty="0"/>
              <a:t>We require adaptive filters that can "learn" and adjust to changing noise in real-time.</a:t>
            </a:r>
          </a:p>
        </p:txBody>
      </p:sp>
    </p:spTree>
    <p:extLst>
      <p:ext uri="{BB962C8B-B14F-4D97-AF65-F5344CB8AC3E}">
        <p14:creationId xmlns:p14="http://schemas.microsoft.com/office/powerpoint/2010/main" val="466173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MOTIVATION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8718" y="2257606"/>
            <a:ext cx="4218810" cy="576262"/>
          </a:xfrm>
        </p:spPr>
        <p:txBody>
          <a:bodyPr/>
          <a:lstStyle/>
          <a:p>
            <a:r>
              <a:rPr lang="en-US" dirty="0"/>
              <a:t>Why This Work is </a:t>
            </a:r>
            <a:r>
              <a:rPr lang="en-US" dirty="0" smtClean="0"/>
              <a:t>Needed </a:t>
            </a:r>
            <a:r>
              <a:rPr lang="en-US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?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849552" cy="1943135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“</a:t>
            </a:r>
            <a:r>
              <a:rPr lang="en-US" sz="2400" dirty="0"/>
              <a:t>ECG signals change over time. Fixed filters cannot adapt. So adaptive filters are required, especially for wearable medical devices.”</a:t>
            </a:r>
            <a:endParaRPr lang="en-US" sz="2000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3023319" y="2776366"/>
            <a:ext cx="399340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ECG signals are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non-stationary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Affected by: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 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White Gaussian noise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Channel noise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FIR / IIR filters  fail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 filter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   Low Power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High speed hardware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69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5615" y="365492"/>
            <a:ext cx="8911687" cy="1280890"/>
          </a:xfrm>
        </p:spPr>
        <p:txBody>
          <a:bodyPr/>
          <a:lstStyle/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AN ADAPTIVE </a:t>
            </a:r>
            <a:r>
              <a:rPr lang="en-US" b="1" i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FILTER </a:t>
            </a:r>
            <a:r>
              <a:rPr lang="en-US" b="1" i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?</a:t>
            </a:r>
            <a:endParaRPr lang="en-US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2705" y="1868065"/>
            <a:ext cx="5008603" cy="579761"/>
          </a:xfrm>
        </p:spPr>
        <p:txBody>
          <a:bodyPr/>
          <a:lstStyle/>
          <a:p>
            <a:r>
              <a:rPr lang="en-US" sz="2800" dirty="0" smtClean="0">
                <a:latin typeface="Algerian" panose="04020705040A02060702" pitchFamily="82" charset="0"/>
              </a:rPr>
              <a:t>Adaptive Filter Concept : </a:t>
            </a:r>
            <a:endParaRPr lang="en-US" sz="2800" dirty="0">
              <a:latin typeface="Algerian" panose="04020705040A02060702" pitchFamily="82" charset="0"/>
            </a:endParaRPr>
          </a:p>
        </p:txBody>
      </p:sp>
      <p:sp>
        <p:nvSpPr>
          <p:cNvPr id="7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2703761" y="2669509"/>
            <a:ext cx="494321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Self-adjusting digital filter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Minimizes error signal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Updates coefficients automatically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8546" y="4383514"/>
            <a:ext cx="65024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Berlin Sans FB" panose="020E0602020502020306" pitchFamily="34" charset="0"/>
              </a:rPr>
              <a:t>Working Diagram of Adaptive Filter </a:t>
            </a:r>
            <a:r>
              <a:rPr lang="en-US" dirty="0" smtClean="0"/>
              <a:t>:</a:t>
            </a:r>
          </a:p>
          <a:p>
            <a:r>
              <a:rPr lang="en-US" dirty="0"/>
              <a:t> </a:t>
            </a:r>
            <a:r>
              <a:rPr lang="en-US" dirty="0" smtClean="0"/>
              <a:t>        </a:t>
            </a:r>
          </a:p>
          <a:p>
            <a:endParaRPr lang="en-US" dirty="0"/>
          </a:p>
          <a:p>
            <a:r>
              <a:rPr lang="en-US" dirty="0" smtClean="0"/>
              <a:t>       			Input </a:t>
            </a:r>
            <a:r>
              <a:rPr lang="en-US" dirty="0"/>
              <a:t>→ Filter → Output</a:t>
            </a:r>
          </a:p>
          <a:p>
            <a:r>
              <a:rPr lang="en-US" dirty="0"/>
              <a:t>          </a:t>
            </a:r>
            <a:r>
              <a:rPr lang="en-US" dirty="0" smtClean="0"/>
              <a:t>             		  ↑</a:t>
            </a:r>
            <a:endParaRPr lang="en-US" dirty="0"/>
          </a:p>
          <a:p>
            <a:r>
              <a:rPr lang="en-US" dirty="0"/>
              <a:t>       </a:t>
            </a:r>
            <a:r>
              <a:rPr lang="en-US" dirty="0" smtClean="0"/>
              <a:t>            		       </a:t>
            </a:r>
            <a:r>
              <a:rPr lang="en-US" dirty="0"/>
              <a:t>Error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1909" y="2420797"/>
            <a:ext cx="4490091" cy="269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85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LIMITATION OF EXISTING </a:t>
            </a:r>
            <a:r>
              <a:rPr lang="en-US" dirty="0" smtClean="0">
                <a:latin typeface="Arial Rounded MT Bold" panose="020F0704030504030204" pitchFamily="34" charset="0"/>
              </a:rPr>
              <a:t>LMS (Least Mean Square ) :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9831" y="2087419"/>
            <a:ext cx="5197043" cy="2299854"/>
          </a:xfrm>
        </p:spPr>
        <p:txBody>
          <a:bodyPr>
            <a:normAutofit/>
          </a:bodyPr>
          <a:lstStyle/>
          <a:p>
            <a:r>
              <a:rPr lang="en-US" sz="2800" b="1" dirty="0"/>
              <a:t>Problems</a:t>
            </a:r>
          </a:p>
          <a:p>
            <a:pPr marL="0" indent="0">
              <a:buNone/>
            </a:pPr>
            <a:r>
              <a:rPr lang="en-US" sz="2000" dirty="0" smtClean="0"/>
              <a:t>          Long </a:t>
            </a:r>
            <a:r>
              <a:rPr lang="en-US" sz="2000" dirty="0"/>
              <a:t>critical </a:t>
            </a:r>
            <a:r>
              <a:rPr lang="en-US" sz="2000" dirty="0" smtClean="0"/>
              <a:t>path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High latency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More </a:t>
            </a:r>
            <a:r>
              <a:rPr lang="en-US" sz="2000" dirty="0"/>
              <a:t>power consumption</a:t>
            </a:r>
          </a:p>
          <a:p>
            <a:pPr marL="0" indent="0">
              <a:buNone/>
            </a:pPr>
            <a:r>
              <a:rPr lang="en-US" sz="2000" dirty="0" smtClean="0"/>
              <a:t>          ENLMS </a:t>
            </a:r>
            <a:r>
              <a:rPr lang="en-US" sz="2000" dirty="0"/>
              <a:t>&amp; DNLMS still inefficient</a:t>
            </a:r>
          </a:p>
        </p:txBody>
      </p:sp>
    </p:spTree>
    <p:extLst>
      <p:ext uri="{BB962C8B-B14F-4D97-AF65-F5344CB8AC3E}">
        <p14:creationId xmlns:p14="http://schemas.microsoft.com/office/powerpoint/2010/main" val="1833087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4656" y="2295891"/>
            <a:ext cx="9869774" cy="19528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PROPOSED </a:t>
            </a:r>
            <a:r>
              <a:rPr lang="en-US" b="1" dirty="0" smtClean="0"/>
              <a:t>SOLUTION</a:t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dirty="0" smtClean="0"/>
              <a:t>			</a:t>
            </a:r>
            <a:r>
              <a:rPr lang="en-US" sz="2700" dirty="0"/>
              <a:t>DENLMS Adaptive Filter</a:t>
            </a:r>
            <a:br>
              <a:rPr lang="en-US" sz="2700" dirty="0"/>
            </a:br>
            <a:r>
              <a:rPr lang="en-US" sz="2700" dirty="0" smtClean="0"/>
              <a:t>           ( Delayed </a:t>
            </a:r>
            <a:r>
              <a:rPr lang="en-US" sz="2700" dirty="0"/>
              <a:t>Error Normalized </a:t>
            </a:r>
            <a:r>
              <a:rPr lang="en-US" sz="2700" dirty="0" smtClean="0"/>
              <a:t>LMS )</a:t>
            </a:r>
            <a:r>
              <a:rPr lang="en-US" dirty="0" smtClean="0"/>
              <a:t>   						</a:t>
            </a:r>
            <a:br>
              <a:rPr lang="en-US" dirty="0" smtClean="0"/>
            </a:br>
            <a:r>
              <a:rPr lang="en-US" dirty="0"/>
              <a:t>	</a:t>
            </a:r>
            <a:r>
              <a:rPr lang="en-US" dirty="0" smtClean="0"/>
              <a:t>				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287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1382" y="2133600"/>
            <a:ext cx="4621694" cy="3777622"/>
          </a:xfrm>
        </p:spPr>
        <p:txBody>
          <a:bodyPr>
            <a:norm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Key Idea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   Introduce </a:t>
            </a:r>
            <a:r>
              <a:rPr lang="en-US" sz="2000" dirty="0"/>
              <a:t>delay </a:t>
            </a:r>
            <a:r>
              <a:rPr lang="en-US" sz="2000" dirty="0" smtClean="0"/>
              <a:t>element </a:t>
            </a:r>
            <a:r>
              <a:rPr lang="en-US" sz="2000" dirty="0"/>
              <a:t>in </a:t>
            </a:r>
            <a:r>
              <a:rPr lang="en-US" sz="2000" dirty="0" smtClean="0"/>
              <a:t>error     path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   Use </a:t>
            </a:r>
            <a:r>
              <a:rPr lang="en-US" sz="2000" dirty="0"/>
              <a:t>pipelined </a:t>
            </a:r>
            <a:r>
              <a:rPr lang="en-US" sz="2000" dirty="0" smtClean="0"/>
              <a:t>architecture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 </a:t>
            </a:r>
            <a:r>
              <a:rPr lang="en-US" sz="2000" dirty="0" smtClean="0"/>
              <a:t>   Reduce </a:t>
            </a:r>
            <a:r>
              <a:rPr lang="en-US" sz="2000" dirty="0"/>
              <a:t>critical path delay</a:t>
            </a:r>
          </a:p>
          <a:p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800" b="1" i="1" dirty="0" smtClean="0">
                <a:solidFill>
                  <a:srgbClr val="FF0000"/>
                </a:solidFill>
              </a:rPr>
              <a:t>Advantages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</a:t>
            </a:r>
            <a:r>
              <a:rPr lang="en-US" sz="2000" dirty="0"/>
              <a:t>Faster </a:t>
            </a:r>
            <a:r>
              <a:rPr lang="en-US" sz="2000" dirty="0" smtClean="0"/>
              <a:t>operation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Lower </a:t>
            </a:r>
            <a:r>
              <a:rPr lang="en-US" sz="2000" dirty="0" smtClean="0"/>
              <a:t>power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Suitable for biomedical VLSI</a:t>
            </a:r>
          </a:p>
        </p:txBody>
      </p:sp>
    </p:spTree>
    <p:extLst>
      <p:ext uri="{BB962C8B-B14F-4D97-AF65-F5344CB8AC3E}">
        <p14:creationId xmlns:p14="http://schemas.microsoft.com/office/powerpoint/2010/main" val="1489730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365" y="750888"/>
            <a:ext cx="3535938" cy="976312"/>
          </a:xfrm>
        </p:spPr>
        <p:txBody>
          <a:bodyPr/>
          <a:lstStyle/>
          <a:p>
            <a:r>
              <a:rPr lang="en-US" b="1" i="1" dirty="0"/>
              <a:t>VLSI CHIP </a:t>
            </a:r>
            <a:r>
              <a:rPr lang="en-US" b="1" i="1" dirty="0" smtClean="0"/>
              <a:t>Architecture :</a:t>
            </a:r>
            <a:endParaRPr lang="en-US" b="1" i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1700" y="893309"/>
            <a:ext cx="5181600" cy="4520520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473038" y="1894338"/>
            <a:ext cx="422866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 cells (NAND, NOR, Inverters)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Synthesized using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TSMC 130nm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ASIC design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45669" y="4053338"/>
            <a:ext cx="45073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“This shows the physical realization of the adaptive filter using standard VLSI cells.”</a:t>
            </a:r>
          </a:p>
        </p:txBody>
      </p:sp>
    </p:spTree>
    <p:extLst>
      <p:ext uri="{BB962C8B-B14F-4D97-AF65-F5344CB8AC3E}">
        <p14:creationId xmlns:p14="http://schemas.microsoft.com/office/powerpoint/2010/main" val="410183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7418" y="3358073"/>
            <a:ext cx="9934430" cy="1280890"/>
          </a:xfrm>
        </p:spPr>
        <p:txBody>
          <a:bodyPr/>
          <a:lstStyle/>
          <a:p>
            <a:r>
              <a:rPr lang="en-US" b="1" dirty="0"/>
              <a:t>DENLMS Algorithm &amp; Implementation Details</a:t>
            </a:r>
          </a:p>
        </p:txBody>
      </p:sp>
    </p:spTree>
    <p:extLst>
      <p:ext uri="{BB962C8B-B14F-4D97-AF65-F5344CB8AC3E}">
        <p14:creationId xmlns:p14="http://schemas.microsoft.com/office/powerpoint/2010/main" val="304557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62851" y="2495553"/>
            <a:ext cx="4313864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w(n+1</a:t>
            </a:r>
            <a:r>
              <a:rPr lang="en-US" sz="2400" b="1" dirty="0"/>
              <a:t>)=w(n)+</a:t>
            </a:r>
            <a:r>
              <a:rPr lang="el-GR" sz="2400" b="1" dirty="0"/>
              <a:t>μ</a:t>
            </a:r>
            <a:r>
              <a:rPr lang="en-US" sz="2400" b="1" dirty="0"/>
              <a:t>e(n)x(n</a:t>
            </a:r>
            <a:r>
              <a:rPr lang="en-US" sz="2400" b="1" dirty="0" smtClean="0"/>
              <a:t>)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/>
              <a:t>Problem</a:t>
            </a:r>
            <a:r>
              <a:rPr lang="en-US" sz="2400" dirty="0"/>
              <a:t>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Long critical path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Slow hardware execution</a:t>
            </a:r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495553"/>
            <a:ext cx="4808748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dirty="0"/>
              <a:t>w(n+1)=w(n)+∥x(n)∥2μ​e(n)x(n</a:t>
            </a:r>
            <a:r>
              <a:rPr lang="pt-BR" sz="2400" b="1" dirty="0" smtClean="0"/>
              <a:t>)</a:t>
            </a:r>
          </a:p>
          <a:p>
            <a:pPr marL="0" indent="0">
              <a:buNone/>
            </a:pPr>
            <a:endParaRPr lang="pt-BR" sz="2400" b="1" dirty="0"/>
          </a:p>
          <a:p>
            <a:pPr marL="0" indent="0">
              <a:buNone/>
            </a:pPr>
            <a:r>
              <a:rPr lang="en-US" sz="2400" b="1" dirty="0"/>
              <a:t>Improvement</a:t>
            </a:r>
            <a:r>
              <a:rPr lang="en-US" sz="2400" dirty="0"/>
              <a:t>: Stability</a:t>
            </a:r>
            <a:br>
              <a:rPr lang="en-US" sz="2400" dirty="0"/>
            </a:br>
            <a:r>
              <a:rPr lang="en-US" sz="2400" b="1" dirty="0" smtClean="0"/>
              <a:t>Still </a:t>
            </a:r>
            <a:r>
              <a:rPr lang="en-US" sz="2400" b="1" dirty="0"/>
              <a:t>problem</a:t>
            </a:r>
            <a:r>
              <a:rPr lang="en-US" sz="2400" dirty="0"/>
              <a:t>: High power &amp; </a:t>
            </a:r>
            <a:r>
              <a:rPr lang="en-US" sz="2400" dirty="0" smtClean="0"/>
              <a:t> delay</a:t>
            </a:r>
            <a:endParaRPr lang="en-US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190747" y="1394131"/>
            <a:ext cx="4054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Normalized LMS (</a:t>
            </a:r>
            <a:r>
              <a:rPr lang="en-US" sz="2400" b="1" i="1" dirty="0" smtClean="0">
                <a:solidFill>
                  <a:srgbClr val="FF0000"/>
                </a:solidFill>
              </a:rPr>
              <a:t>ENLMS)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89212" y="1394131"/>
            <a:ext cx="4313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Conventional LMS Weight Update</a:t>
            </a:r>
          </a:p>
        </p:txBody>
      </p:sp>
    </p:spTree>
    <p:extLst>
      <p:ext uri="{BB962C8B-B14F-4D97-AF65-F5344CB8AC3E}">
        <p14:creationId xmlns:p14="http://schemas.microsoft.com/office/powerpoint/2010/main" val="182875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FF0000"/>
                </a:solidFill>
              </a:rPr>
              <a:t>Proposed DENLMS Weight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2800" dirty="0"/>
              <a:t>w(n+1)=w(n)+μe(n−m)x(n−m</a:t>
            </a:r>
            <a:r>
              <a:rPr lang="pl-PL" sz="2800" dirty="0" smtClean="0"/>
              <a:t>)</a:t>
            </a: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b="1" dirty="0"/>
              <a:t>Key Modification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/>
              <a:t>Error is delayed by m samples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/>
              <a:t>Enables pipelining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700463" y="5486400"/>
            <a:ext cx="101546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“Here we modify the LMS algorithm by introducing a delay in the error feedback </a:t>
            </a:r>
            <a:r>
              <a:rPr lang="en-US" sz="2800" dirty="0" smtClean="0"/>
              <a:t>path”.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99347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5785" y="2878047"/>
            <a:ext cx="3505199" cy="976312"/>
          </a:xfrm>
        </p:spPr>
        <p:txBody>
          <a:bodyPr>
            <a:normAutofit/>
          </a:bodyPr>
          <a:lstStyle/>
          <a:p>
            <a:r>
              <a:rPr lang="en-US" sz="2800" b="1" i="1" dirty="0">
                <a:solidFill>
                  <a:srgbClr val="FF0000"/>
                </a:solidFill>
              </a:rPr>
              <a:t>Why Delay Helps?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76736" y="161368"/>
            <a:ext cx="5181600" cy="3692991"/>
          </a:xfrm>
          <a:prstGeom prst="rect">
            <a:avLst/>
          </a:prstGeom>
        </p:spPr>
      </p:pic>
      <p:sp>
        <p:nvSpPr>
          <p:cNvPr id="5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245895" y="3854359"/>
            <a:ext cx="384851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Breaks feedback loop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critical path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 execution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clock speed</a:t>
            </a:r>
          </a:p>
        </p:txBody>
      </p:sp>
      <p:cxnSp>
        <p:nvCxnSpPr>
          <p:cNvPr id="9" name="Curved Connector 8"/>
          <p:cNvCxnSpPr/>
          <p:nvPr/>
        </p:nvCxnSpPr>
        <p:spPr>
          <a:xfrm rot="5400000" flipH="1" flipV="1">
            <a:off x="3281930" y="2076133"/>
            <a:ext cx="1681782" cy="89835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67263" y="1315089"/>
            <a:ext cx="3609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Here delay means DENLMS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817895" y="4042611"/>
            <a:ext cx="53741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Proposed Architecture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16-bit pipeline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FIR filter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SUB block for error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Adaptive coefficient update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045785" y="5796937"/>
            <a:ext cx="9263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>
                <a:solidFill>
                  <a:srgbClr val="FF0000"/>
                </a:solidFill>
              </a:rPr>
              <a:t>NOTE : </a:t>
            </a:r>
            <a:r>
              <a:rPr lang="en-US" sz="2400" dirty="0"/>
              <a:t>“This is the core contribution of the paper.”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881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4291" y="168997"/>
            <a:ext cx="3988521" cy="976312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HDL &amp; IMPLEMENTATION FLOW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1800" b="1" dirty="0"/>
              <a:t>Tools Used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        </a:t>
            </a:r>
            <a:r>
              <a:rPr lang="en-US" sz="1800" dirty="0" smtClean="0"/>
              <a:t>Verilog </a:t>
            </a:r>
            <a:r>
              <a:rPr lang="en-US" sz="1800" dirty="0"/>
              <a:t>HDL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        </a:t>
            </a:r>
            <a:r>
              <a:rPr lang="en-US" sz="1800" dirty="0" err="1" smtClean="0"/>
              <a:t>ModelSim</a:t>
            </a:r>
            <a:r>
              <a:rPr lang="en-US" sz="1800" dirty="0" smtClean="0"/>
              <a:t> </a:t>
            </a:r>
            <a:r>
              <a:rPr lang="en-US" sz="1800" dirty="0"/>
              <a:t>(Simulation)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        Xilinx </a:t>
            </a:r>
            <a:r>
              <a:rPr lang="en-US" sz="1800" dirty="0"/>
              <a:t>ISE (FPGA)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        </a:t>
            </a:r>
            <a:r>
              <a:rPr lang="en-US" sz="1800" dirty="0" err="1" smtClean="0"/>
              <a:t>Synopss</a:t>
            </a:r>
            <a:r>
              <a:rPr lang="en-US" sz="1800" dirty="0" smtClean="0"/>
              <a:t> </a:t>
            </a:r>
            <a:r>
              <a:rPr lang="en-US" sz="1800" dirty="0"/>
              <a:t>DC (</a:t>
            </a:r>
            <a:r>
              <a:rPr lang="en-US" sz="1800" dirty="0" smtClean="0"/>
              <a:t>ASIC</a:t>
            </a:r>
            <a:r>
              <a:rPr lang="en-US" sz="1800" dirty="0"/>
              <a:t>)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7970981" y="446088"/>
            <a:ext cx="2041237" cy="8391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RTL Design   </a:t>
            </a:r>
          </a:p>
          <a:p>
            <a:pPr algn="ctr"/>
            <a:r>
              <a:rPr lang="en-US" dirty="0" smtClean="0"/>
              <a:t> </a:t>
            </a:r>
            <a:r>
              <a:rPr lang="en-US" dirty="0"/>
              <a:t>(Verilog/VHDL)</a:t>
            </a:r>
          </a:p>
        </p:txBody>
      </p:sp>
      <p:sp>
        <p:nvSpPr>
          <p:cNvPr id="6" name="Down Arrow 5"/>
          <p:cNvSpPr/>
          <p:nvPr/>
        </p:nvSpPr>
        <p:spPr>
          <a:xfrm>
            <a:off x="8940802" y="1320800"/>
            <a:ext cx="45719" cy="2778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786255" y="1598613"/>
            <a:ext cx="2346036" cy="8028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Simulation   </a:t>
            </a:r>
          </a:p>
          <a:p>
            <a:pPr algn="ctr"/>
            <a:r>
              <a:rPr lang="en-US" dirty="0" smtClean="0"/>
              <a:t> </a:t>
            </a:r>
            <a:r>
              <a:rPr lang="en-US" dirty="0"/>
              <a:t>(Functional)</a:t>
            </a:r>
          </a:p>
        </p:txBody>
      </p:sp>
      <p:sp>
        <p:nvSpPr>
          <p:cNvPr id="8" name="Down Arrow 7"/>
          <p:cNvSpPr/>
          <p:nvPr/>
        </p:nvSpPr>
        <p:spPr>
          <a:xfrm>
            <a:off x="8959273" y="2401455"/>
            <a:ext cx="45719" cy="2863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836592" y="2705605"/>
            <a:ext cx="2336800" cy="8959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Synthesis    </a:t>
            </a:r>
          </a:p>
          <a:p>
            <a:pPr algn="ctr"/>
            <a:r>
              <a:rPr lang="en-US" dirty="0" smtClean="0"/>
              <a:t> </a:t>
            </a:r>
            <a:r>
              <a:rPr lang="en-US" dirty="0"/>
              <a:t>(Gate Level)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004992" y="3601532"/>
            <a:ext cx="45719" cy="3701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786255" y="3971636"/>
            <a:ext cx="2558472" cy="9790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Layout     </a:t>
            </a:r>
          </a:p>
          <a:p>
            <a:pPr algn="ctr"/>
            <a:r>
              <a:rPr lang="en-US" dirty="0" smtClean="0"/>
              <a:t>(</a:t>
            </a:r>
            <a:r>
              <a:rPr lang="en-US" dirty="0"/>
              <a:t>Physical)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2219" y="5320795"/>
            <a:ext cx="404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VLSI Design Flow Diagram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0775" y="3786584"/>
            <a:ext cx="3463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Target FPGA</a:t>
            </a:r>
          </a:p>
          <a:p>
            <a:r>
              <a:rPr lang="en-US" dirty="0"/>
              <a:t>Virtex-5 XC5LVX330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8857" y="44144"/>
            <a:ext cx="8911687" cy="1280890"/>
          </a:xfrm>
        </p:spPr>
        <p:txBody>
          <a:bodyPr/>
          <a:lstStyle/>
          <a:p>
            <a:r>
              <a:rPr lang="en-US" b="1" i="1" dirty="0">
                <a:solidFill>
                  <a:srgbClr val="FF0000"/>
                </a:solidFill>
              </a:rPr>
              <a:t>SIMULATION </a:t>
            </a:r>
            <a:r>
              <a:rPr lang="en-US" b="1" i="1" dirty="0" smtClean="0">
                <a:solidFill>
                  <a:srgbClr val="FF0000"/>
                </a:solidFill>
              </a:rPr>
              <a:t>RESULTS </a:t>
            </a:r>
            <a:r>
              <a:rPr lang="en-US" b="1" i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endParaRPr lang="en-US" b="1" i="1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4" y="752382"/>
            <a:ext cx="4281777" cy="28590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924" y="3649404"/>
            <a:ext cx="4281777" cy="30469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81455" y="5033818"/>
            <a:ext cx="4553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 smtClean="0">
                <a:solidFill>
                  <a:srgbClr val="FF0000"/>
                </a:solidFill>
              </a:rPr>
              <a:t>NOTE :  </a:t>
            </a:r>
            <a:r>
              <a:rPr lang="en-US" dirty="0"/>
              <a:t>“Lower error means better ECG noise removal.”</a:t>
            </a:r>
            <a:endParaRPr lang="en-US" b="1" i="1" u="sng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81455" y="1745673"/>
            <a:ext cx="443345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ENLMS vs DENLMS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DENLMS error is </a:t>
            </a:r>
            <a:r>
              <a:rPr lang="en-US" u="sng" dirty="0"/>
              <a:t>much lower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Stable output with </a:t>
            </a:r>
            <a:r>
              <a:rPr lang="en-US" u="sng" dirty="0"/>
              <a:t>16-bit precision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205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0"/>
            <a:ext cx="4500603" cy="724399"/>
          </a:xfrm>
        </p:spPr>
        <p:txBody>
          <a:bodyPr/>
          <a:lstStyle/>
          <a:p>
            <a:r>
              <a:rPr lang="en-US" b="1" i="1" dirty="0">
                <a:solidFill>
                  <a:srgbClr val="FF0000"/>
                </a:solidFill>
              </a:rPr>
              <a:t>FINAL CHIP LAYOUT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833" y="606906"/>
            <a:ext cx="5584440" cy="32816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254" y="3889270"/>
            <a:ext cx="5572019" cy="28967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45237" y="2927927"/>
            <a:ext cx="32327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rgbClr val="FF0000"/>
                </a:solidFill>
              </a:rPr>
              <a:t>Observation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Area slightly increased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Performance greatly improved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8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FF0000"/>
                </a:solidFill>
              </a:rPr>
              <a:t>PERFORMANCE </a:t>
            </a:r>
            <a:r>
              <a:rPr lang="en-US" b="1" i="1" u="sng" dirty="0" smtClean="0">
                <a:solidFill>
                  <a:srgbClr val="FF0000"/>
                </a:solidFill>
              </a:rPr>
              <a:t>COMPARISON :</a:t>
            </a:r>
            <a:endParaRPr lang="en-US" b="1" i="1" u="sng" dirty="0">
              <a:solidFill>
                <a:srgbClr val="FF0000"/>
              </a:solidFill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972970"/>
              </p:ext>
            </p:extLst>
          </p:nvPr>
        </p:nvGraphicFramePr>
        <p:xfrm>
          <a:off x="2589213" y="2285365"/>
          <a:ext cx="8915400" cy="347472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  <a:gridCol w="178308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i="1" u="sng" dirty="0">
                          <a:solidFill>
                            <a:srgbClr val="FF0000"/>
                          </a:solidFill>
                        </a:rPr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i="1" u="sng" dirty="0">
                          <a:solidFill>
                            <a:srgbClr val="FF0000"/>
                          </a:solidFill>
                        </a:rPr>
                        <a:t>ENLMS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i="1" u="sng" dirty="0">
                          <a:solidFill>
                            <a:srgbClr val="FF0000"/>
                          </a:solidFill>
                        </a:rPr>
                        <a:t>DNLMS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i="1" u="sng" dirty="0">
                          <a:solidFill>
                            <a:srgbClr val="FF0000"/>
                          </a:solidFill>
                        </a:rPr>
                        <a:t>Proposed DENLMS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i="1" u="sng" dirty="0">
                          <a:solidFill>
                            <a:srgbClr val="FF0000"/>
                          </a:solidFill>
                        </a:rPr>
                        <a:t>Improvement by DENLMS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Total Dynamic 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84 mW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71 mW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64 mW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23.8</a:t>
                      </a:r>
                      <a:r>
                        <a:rPr lang="en-US" b="0" dirty="0"/>
                        <a:t>% lower than ENLMS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/>
                        <a:t>Cell Leakage 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176 µW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159 µW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124 µW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29.5</a:t>
                      </a:r>
                      <a:r>
                        <a:rPr lang="en-US" b="0" dirty="0"/>
                        <a:t>% lower than ENLMS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/>
                        <a:t>Total Area (Logic Cells)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~31.5 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~328.6 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~335.5 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20.4</a:t>
                      </a:r>
                      <a:r>
                        <a:rPr lang="en-US" b="0" dirty="0"/>
                        <a:t>% increase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Slack (Timing Margin)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0.27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0.31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0.19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Lower </a:t>
                      </a:r>
                      <a:r>
                        <a:rPr lang="en-US" b="0" dirty="0"/>
                        <a:t>slack, enables faster clock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Minus 7"/>
          <p:cNvSpPr/>
          <p:nvPr/>
        </p:nvSpPr>
        <p:spPr>
          <a:xfrm>
            <a:off x="951337" y="4147127"/>
            <a:ext cx="11813310" cy="129309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inus 8"/>
          <p:cNvSpPr/>
          <p:nvPr/>
        </p:nvSpPr>
        <p:spPr>
          <a:xfrm>
            <a:off x="937488" y="4826000"/>
            <a:ext cx="11813310" cy="129309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inus 9"/>
          <p:cNvSpPr/>
          <p:nvPr/>
        </p:nvSpPr>
        <p:spPr>
          <a:xfrm>
            <a:off x="937482" y="3505207"/>
            <a:ext cx="11813310" cy="129309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38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505" y="59338"/>
            <a:ext cx="7563239" cy="45595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05505" y="5033818"/>
            <a:ext cx="7827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“This is the bar diagram of the previous slide. Its give us a beautiful visualization of the comparison between ENLMS,DNLMS,DENLMS”.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08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</a:t>
            </a:r>
            <a:r>
              <a:rPr lang="en-US" b="1" i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 :</a:t>
            </a:r>
            <a:endParaRPr lang="en-US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DENLMS is </a:t>
            </a:r>
            <a:r>
              <a:rPr lang="en-US" sz="2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Better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/>
              <a:t> Low dynamic power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/>
              <a:t> Low leakage power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/>
              <a:t> High speed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</a:t>
            </a:r>
            <a:r>
              <a:rPr lang="en-US" sz="2000" dirty="0" smtClean="0"/>
              <a:t>ECG suitable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/>
              <a:t> Wearable-friendly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15205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1434" y="310074"/>
            <a:ext cx="6957476" cy="641272"/>
          </a:xfrm>
        </p:spPr>
        <p:txBody>
          <a:bodyPr>
            <a:normAutofit fontScale="90000"/>
          </a:bodyPr>
          <a:lstStyle/>
          <a:p>
            <a:r>
              <a:rPr lang="en-US" b="1" i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 Short Note of This Paper :</a:t>
            </a:r>
            <a:endParaRPr 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08034" y="2900218"/>
            <a:ext cx="44657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u="sng" dirty="0" smtClean="0">
                <a:solidFill>
                  <a:srgbClr val="FF0000"/>
                </a:solidFill>
              </a:rPr>
              <a:t>Note-2 :  </a:t>
            </a:r>
            <a:r>
              <a:rPr lang="en-US" sz="2000" dirty="0"/>
              <a:t>Best trade-off between: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Power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Speed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035" y="1685637"/>
            <a:ext cx="41332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u="sng" dirty="0" smtClean="0">
                <a:solidFill>
                  <a:srgbClr val="FF0000"/>
                </a:solidFill>
              </a:rPr>
              <a:t>Note-1 :  </a:t>
            </a:r>
            <a:r>
              <a:rPr lang="en-US" sz="2000" dirty="0"/>
              <a:t>DENLMS outperforms ENLMS &amp; DNLMS</a:t>
            </a:r>
            <a:endParaRPr lang="en-US" sz="2000" b="1" i="1" u="sng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06327" y="2158998"/>
            <a:ext cx="40270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u="sng" dirty="0" smtClean="0">
                <a:solidFill>
                  <a:srgbClr val="FF0000"/>
                </a:solidFill>
              </a:rPr>
              <a:t>Note-3 :  </a:t>
            </a:r>
            <a:r>
              <a:rPr lang="en-US" sz="2000" dirty="0"/>
              <a:t>Ideal for biomedical ECG devices</a:t>
            </a:r>
            <a:endParaRPr lang="en-US" sz="2000" i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165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62400" y="517236"/>
            <a:ext cx="544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 :</a:t>
            </a:r>
            <a:endParaRPr lang="en-US" sz="24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8473" y="2299856"/>
            <a:ext cx="80448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“This work proves that smart pipelined adaptive filters can save power without sacrificing performance.”</a:t>
            </a:r>
          </a:p>
        </p:txBody>
      </p:sp>
    </p:spTree>
    <p:extLst>
      <p:ext uri="{BB962C8B-B14F-4D97-AF65-F5344CB8AC3E}">
        <p14:creationId xmlns:p14="http://schemas.microsoft.com/office/powerpoint/2010/main" val="202556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90109" y="2327564"/>
            <a:ext cx="67702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en-US" sz="60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67587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4617" y="1782618"/>
            <a:ext cx="67887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 ?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869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268</TotalTime>
  <Words>784</Words>
  <Application>Microsoft Office PowerPoint</Application>
  <PresentationFormat>Widescreen</PresentationFormat>
  <Paragraphs>193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Arial Unicode MS</vt:lpstr>
      <vt:lpstr>Algerian</vt:lpstr>
      <vt:lpstr>Arial</vt:lpstr>
      <vt:lpstr>Arial Rounded MT Bold</vt:lpstr>
      <vt:lpstr>Berlin Sans FB</vt:lpstr>
      <vt:lpstr>Cascadia Code ExtraLight</vt:lpstr>
      <vt:lpstr>Century Gothic</vt:lpstr>
      <vt:lpstr>Courier New</vt:lpstr>
      <vt:lpstr>Times New Roman</vt:lpstr>
      <vt:lpstr>Wingdings</vt:lpstr>
      <vt:lpstr>Wingdings 3</vt:lpstr>
      <vt:lpstr>Wisp</vt:lpstr>
      <vt:lpstr>VLSI Implementation of DENLMS Adaptive Filter for Biomedical Applications</vt:lpstr>
      <vt:lpstr>Contents :</vt:lpstr>
      <vt:lpstr>The Core Problem &amp; Context</vt:lpstr>
      <vt:lpstr>Context</vt:lpstr>
      <vt:lpstr>Challenge :</vt:lpstr>
      <vt:lpstr>Solution Needed:</vt:lpstr>
      <vt:lpstr>PROBLEM MOTIVATION</vt:lpstr>
      <vt:lpstr>WHAT IS AN ADAPTIVE FILTER ?</vt:lpstr>
      <vt:lpstr>LIMITATION OF EXISTING LMS (Least Mean Square ) :</vt:lpstr>
      <vt:lpstr>PROPOSED SOLUTION     DENLMS Adaptive Filter            ( Delayed Error Normalized LMS )                </vt:lpstr>
      <vt:lpstr>PowerPoint Presentation</vt:lpstr>
      <vt:lpstr>VLSI CHIP Architecture :</vt:lpstr>
      <vt:lpstr>DENLMS Algorithm &amp; Implementation Details</vt:lpstr>
      <vt:lpstr>PowerPoint Presentation</vt:lpstr>
      <vt:lpstr>Proposed DENLMS Weight Update</vt:lpstr>
      <vt:lpstr>Why Delay Helps?</vt:lpstr>
      <vt:lpstr>HDL &amp; IMPLEMENTATION FLOW</vt:lpstr>
      <vt:lpstr>SIMULATION RESULTS </vt:lpstr>
      <vt:lpstr>FINAL CHIP LAYOUT</vt:lpstr>
      <vt:lpstr>PERFORMANCE COMPARISON :</vt:lpstr>
      <vt:lpstr>PowerPoint Presentation</vt:lpstr>
      <vt:lpstr>KEY RESULTS :</vt:lpstr>
      <vt:lpstr>Some Short Note of This Paper :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VLSI Implementation of DENLMS Adaptive Filter for Biomedical Applications</dc:title>
  <dc:creator>Ali</dc:creator>
  <cp:lastModifiedBy>Ali</cp:lastModifiedBy>
  <cp:revision>29</cp:revision>
  <dcterms:created xsi:type="dcterms:W3CDTF">2026-01-08T12:53:50Z</dcterms:created>
  <dcterms:modified xsi:type="dcterms:W3CDTF">2026-01-11T08:27:33Z</dcterms:modified>
</cp:coreProperties>
</file>